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(10 s) Presentarse. Hoy: qué problema resuelve AMDockVS y qué puede hacer.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(1:00) Así es un cribado virtual: partimos de librerías de millones —incluso miles de millones— de compuestos (ZINC, Enamine REAL). Filtramos por propiedades y alertas, reducimos por diversidad, preparamos ligandos y receptor, definimos el sitio, hacemos docking y analizamos. Cada paso suele ser un programa distinto, con su formato. Los retos: pegar herramientas a mano, convertir formatos, escalar a muchos compuestos y poder repetir exactamente lo que se hizo.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(0:45) No partimos de cero. AMDock (2020) ya ofrecía una GUI para docking con Vina y AutoDock4, pero orientada a un complejo a la vez. Hay otras opciones: PyRx, servidores web, VirtualFlow para HPC, suites comerciales. Cada una cubre una parte: o es fácil de usar, o escala, o es abierta. Faltaba algo intermedio: GUI + escala + abierto + reproducible, en el escritorio.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(0:50) AMDockVS integra todo el embudo en una sola aplicación. Se usa de dos formas sobre la misma lógica científica: una interfaz de escritorio, o una API de Python para notebooks y scripts reproducibles. Es MIT y se instala con pip.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(0:45) Todo se ve en tablas filtrables. La preparación hace protonación, 3D y minimización en un solo paso. Para reducir una librería grande usamos clustering BitBIRCH y nos quedamos con los centroides: menos compuestos, misma diversidad.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(0:45) Si no conocemos el sitio, P2Rank predice las cavidades y generamos la caja a partir de ellas. Meeko prepara los PDBQT y el docking se lanza como trabajo en paralelo. Los resultados salen en una tabla ordenable por afinidad.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(0:45) Antes de cribar, validamos: re-acoplamos el ligando del cristal y medimos el RMSD. [Si hay datos: 'en X de Y complejos el RMSD fue &lt; 2 Å'.] Así sabemos que el protocolo reproduce el modo de unión.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(0:45) La vista off-target pone un ligando frente a varios receptores con las poses alineadas: útil para selectividad. Cada pose se inspecciona en PyMOL y con su diagrama 2D de interacciones. También hay descriptores y modelos QSAR básicos.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(0:40) Por dentro hay tres capas. Arriba, la GUI y la API usan la misma lógica. En medio, AMDockVS: la química. Abajo, ms_flow: nuestro orquestador, que gestiona proyectos, trabajos asíncronos, ejecutores y paralelismo CPU/GPU, sin servidor ni broker. ms_flow es genérico: sirve para cualquier flujo masivo de datos, no solo química.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(0:40) Resumen: integra, es reproducible y sirve desde la GUI o desde código. Próximos pasos: GNINA y GPU, ejecución remota/HPC y más motores. Frase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2377440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2011680"/>
            <a:ext cx="804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6000" b="1">
                <a:solidFill>
                  <a:srgbClr val="FFFFFF"/>
                </a:solidFill>
              </a:defRPr>
            </a:pPr>
            <a:r>
              <a:t>AMDockVS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108960"/>
            <a:ext cx="804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9FE0E0"/>
                </a:solidFill>
              </a:defRPr>
            </a:pPr>
            <a:r>
              <a:t>Cribado virtual integrado, reproducible y de código abierto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754880"/>
            <a:ext cx="8046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Mario S. Valdés · [institución] · [evento, fecha]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F8B8D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B2A41"/>
                </a:solidFill>
              </a:defRPr>
            </a:pPr>
            <a:r>
              <a:t>Un cribado virtual típico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1645920"/>
            <a:ext cx="1580605" cy="1143000"/>
          </a:xfrm>
          <a:prstGeom prst="homePlate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Librería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10⁶–10⁹ cpds</a:t>
            </a:r>
          </a:p>
        </p:txBody>
      </p:sp>
      <p:sp>
        <p:nvSpPr>
          <p:cNvPr id="7" name="Chevron 6"/>
          <p:cNvSpPr/>
          <p:nvPr/>
        </p:nvSpPr>
        <p:spPr>
          <a:xfrm>
            <a:off x="2129245" y="1645920"/>
            <a:ext cx="1580605" cy="1143000"/>
          </a:xfrm>
          <a:prstGeom prst="chevron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403565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Filtrado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Lipinski, PAINS</a:t>
            </a:r>
          </a:p>
        </p:txBody>
      </p:sp>
      <p:sp>
        <p:nvSpPr>
          <p:cNvPr id="9" name="Chevron 8"/>
          <p:cNvSpPr/>
          <p:nvPr/>
        </p:nvSpPr>
        <p:spPr>
          <a:xfrm>
            <a:off x="3709851" y="1645920"/>
            <a:ext cx="1580605" cy="1143000"/>
          </a:xfrm>
          <a:prstGeom prst="chevron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984171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Diversidad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clustering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5290457" y="1645920"/>
            <a:ext cx="1580605" cy="1143000"/>
          </a:xfrm>
          <a:prstGeom prst="chevron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564777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Preparación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H⁺, 3D, PDBQT</a:t>
            </a:r>
          </a:p>
        </p:txBody>
      </p:sp>
      <p:sp>
        <p:nvSpPr>
          <p:cNvPr id="13" name="Chevron 12"/>
          <p:cNvSpPr/>
          <p:nvPr/>
        </p:nvSpPr>
        <p:spPr>
          <a:xfrm>
            <a:off x="6871062" y="1645920"/>
            <a:ext cx="1580605" cy="1143000"/>
          </a:xfrm>
          <a:prstGeom prst="chevron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145382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Sitio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cavidades</a:t>
            </a:r>
          </a:p>
        </p:txBody>
      </p:sp>
      <p:sp>
        <p:nvSpPr>
          <p:cNvPr id="15" name="Chevron 14"/>
          <p:cNvSpPr/>
          <p:nvPr/>
        </p:nvSpPr>
        <p:spPr>
          <a:xfrm>
            <a:off x="8451668" y="1645920"/>
            <a:ext cx="1580605" cy="1143000"/>
          </a:xfrm>
          <a:prstGeom prst="chevron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725988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Docking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scoring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10032274" y="1645920"/>
            <a:ext cx="1580605" cy="1143000"/>
          </a:xfrm>
          <a:prstGeom prst="chevron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306594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Análisis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poses, 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158060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ZINC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Enamine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9245" y="2880360"/>
            <a:ext cx="158060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RDKit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KNIME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9851" y="2880360"/>
            <a:ext cx="158060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RDKit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scripts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0457" y="2880360"/>
            <a:ext cx="158060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OpenBabel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reduce · Meeko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062" y="2880360"/>
            <a:ext cx="158060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fpocket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P2Rank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1668" y="2880360"/>
            <a:ext cx="158060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Vina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AutoDock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2274" y="2880360"/>
            <a:ext cx="158060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PyMOL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5F6B7A"/>
                </a:solidFill>
              </a:defRPr>
            </a:pPr>
            <a:r>
              <a:t>PLIP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89120"/>
            <a:ext cx="2606040" cy="1463040"/>
          </a:xfrm>
          <a:prstGeom prst="round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Fragmentado</a:t>
            </a:r>
          </a:p>
          <a:p>
            <a:pPr algn="ctr">
              <a:defRPr sz="1500" b="0">
                <a:solidFill>
                  <a:srgbClr val="FFFFFF"/>
                </a:solidFill>
              </a:defRPr>
            </a:pPr>
            <a:r>
              <a:t>un programa y un formato por paso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389120"/>
            <a:ext cx="2606040" cy="1463040"/>
          </a:xfrm>
          <a:prstGeom prst="round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Manual</a:t>
            </a:r>
          </a:p>
          <a:p>
            <a:pPr algn="ctr">
              <a:defRPr sz="1500" b="0">
                <a:solidFill>
                  <a:srgbClr val="FFFFFF"/>
                </a:solidFill>
              </a:defRPr>
            </a:pPr>
            <a:r>
              <a:t>scripts y conversiones ad hoc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389120"/>
            <a:ext cx="2606040" cy="1463040"/>
          </a:xfrm>
          <a:prstGeom prst="round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Escala</a:t>
            </a:r>
          </a:p>
          <a:p>
            <a:pPr algn="ctr">
              <a:defRPr sz="1500" b="0">
                <a:solidFill>
                  <a:srgbClr val="FFFFFF"/>
                </a:solidFill>
              </a:defRPr>
            </a:pPr>
            <a:r>
              <a:t>de decenas a millones de moléculas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4389120"/>
            <a:ext cx="2606040" cy="1463040"/>
          </a:xfrm>
          <a:prstGeom prst="round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Reproducibilidad</a:t>
            </a:r>
          </a:p>
          <a:p>
            <a:pPr algn="ctr">
              <a:defRPr sz="1500" b="0">
                <a:solidFill>
                  <a:srgbClr val="FFFFFF"/>
                </a:solidFill>
              </a:defRPr>
            </a:pPr>
            <a:r>
              <a:t>¿qué parámetros se usaron?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F8B8D"/>
                </a:solidFill>
              </a:defRPr>
            </a:pPr>
            <a: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B2A41"/>
                </a:solidFill>
              </a:defRPr>
            </a:pPr>
            <a:r>
              <a:t>Soluciones actuales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737360"/>
                <a:gridCol w="1737360"/>
                <a:gridCol w="1737360"/>
                <a:gridCol w="1737360"/>
              </a:tblGrid>
              <a:tr h="600891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GUI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Escala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Abierto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Reproducible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AMDock 1.6.5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✘  1 complejo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PyRx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Servidores web (SwissDock, DockThor)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✘  cuotas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VirtualFlow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✘  CLI / HPC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Suites comerciales (Schrödinger)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✘  licencia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1B2A41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AMDockVS</a:t>
                      </a:r>
                    </a:p>
                  </a:txBody>
                  <a:tcPr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✔  MIT</a:t>
                      </a:r>
                    </a:p>
                  </a:txBody>
                  <a:tcPr>
                    <a:solidFill>
                      <a:srgbClr val="0F8B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F8B8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5F6B7A"/>
                </a:solidFill>
              </a:defRPr>
            </a:pPr>
            <a:r>
              <a:t>Valdés-Tresanco M.S. et al. AMDock. Biology Direct 15, 12 (2020).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F8B8D"/>
                </a:solidFill>
              </a:defRPr>
            </a:pPr>
            <a:r>
              <a:t>LA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B2A41"/>
                </a:solidFill>
              </a:defRPr>
            </a:pPr>
            <a:r>
              <a:t>AMDockVS: un flujo, una aplicación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1645920"/>
            <a:ext cx="1580605" cy="1143000"/>
          </a:xfrm>
          <a:prstGeom prst="homePlat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Librería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SDF · SMILES · PDB</a:t>
            </a:r>
          </a:p>
        </p:txBody>
      </p:sp>
      <p:sp>
        <p:nvSpPr>
          <p:cNvPr id="7" name="Chevron 6"/>
          <p:cNvSpPr/>
          <p:nvPr/>
        </p:nvSpPr>
        <p:spPr>
          <a:xfrm>
            <a:off x="2129245" y="1645920"/>
            <a:ext cx="1580605" cy="1143000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403565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Filtrado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descriptores</a:t>
            </a:r>
          </a:p>
        </p:txBody>
      </p:sp>
      <p:sp>
        <p:nvSpPr>
          <p:cNvPr id="9" name="Chevron 8"/>
          <p:cNvSpPr/>
          <p:nvPr/>
        </p:nvSpPr>
        <p:spPr>
          <a:xfrm>
            <a:off x="3709851" y="1645920"/>
            <a:ext cx="1580605" cy="1143000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984171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Diversidad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BitBIRCH</a:t>
            </a:r>
          </a:p>
        </p:txBody>
      </p:sp>
      <p:sp>
        <p:nvSpPr>
          <p:cNvPr id="11" name="Chevron 10"/>
          <p:cNvSpPr/>
          <p:nvPr/>
        </p:nvSpPr>
        <p:spPr>
          <a:xfrm>
            <a:off x="5290457" y="1645920"/>
            <a:ext cx="1580605" cy="1143000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564777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Preparación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RDKit · Meeko</a:t>
            </a:r>
          </a:p>
        </p:txBody>
      </p:sp>
      <p:sp>
        <p:nvSpPr>
          <p:cNvPr id="13" name="Chevron 12"/>
          <p:cNvSpPr/>
          <p:nvPr/>
        </p:nvSpPr>
        <p:spPr>
          <a:xfrm>
            <a:off x="6871062" y="1645920"/>
            <a:ext cx="1580605" cy="1143000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145382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Sitio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P2Rank · manual</a:t>
            </a:r>
          </a:p>
        </p:txBody>
      </p:sp>
      <p:sp>
        <p:nvSpPr>
          <p:cNvPr id="15" name="Chevron 14"/>
          <p:cNvSpPr/>
          <p:nvPr/>
        </p:nvSpPr>
        <p:spPr>
          <a:xfrm>
            <a:off x="8451668" y="1645920"/>
            <a:ext cx="1580605" cy="1143000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725988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Docking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Vina · Vinardo</a:t>
            </a:r>
          </a:p>
        </p:txBody>
      </p:sp>
      <p:sp>
        <p:nvSpPr>
          <p:cNvPr id="17" name="Chevron 16"/>
          <p:cNvSpPr/>
          <p:nvPr/>
        </p:nvSpPr>
        <p:spPr>
          <a:xfrm>
            <a:off x="10032274" y="1645920"/>
            <a:ext cx="1580605" cy="1143000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306594" y="1645920"/>
            <a:ext cx="1214845" cy="1143000"/>
          </a:xfrm>
          <a:prstGeom prst="rect">
            <a:avLst/>
          </a:prstGeom>
          <a:noFill/>
        </p:spPr>
        <p:txBody>
          <a:bodyPr wrap="square" anchor="ctr" lIns="0" rIns="0">
            <a:no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Análisis</a:t>
            </a:r>
          </a:p>
          <a:p>
            <a:pPr algn="ctr">
              <a:spcAft>
                <a:spcPts val="800"/>
              </a:spcAft>
              <a:defRPr sz="1100" b="0">
                <a:solidFill>
                  <a:srgbClr val="FFFFFF"/>
                </a:solidFill>
              </a:defRPr>
            </a:pPr>
            <a:r>
              <a:t>tablas · PyMOL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2651760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Interfaz de escritorio</a:t>
            </a:r>
          </a:p>
          <a:p>
            <a:pPr algn="ctr">
              <a:defRPr sz="1900" b="0">
                <a:solidFill>
                  <a:srgbClr val="FFFFFF"/>
                </a:solidFill>
              </a:defRPr>
            </a:pPr>
            <a:r>
              <a:t>PySide6 + PyMOL · proyectos · tablas · trabajos en segundo plano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00400"/>
            <a:ext cx="5394960" cy="2651760"/>
          </a:xfrm>
          <a:prstGeom prst="rect">
            <a:avLst/>
          </a:prstGeom>
          <a:solidFill>
            <a:srgbClr val="10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5F6B7A"/>
                </a:solidFill>
                <a:latin typeface="Consolas"/>
              </a:defRPr>
            </a:pPr>
            <a:r>
              <a:t># API de Python — notebooks y scripts</a:t>
            </a:r>
          </a:p>
          <a:p>
            <a:pPr>
              <a:defRPr sz="1600">
                <a:solidFill>
                  <a:srgbClr val="9FE0E0"/>
                </a:solidFill>
                <a:latin typeface="Consolas"/>
              </a:defRPr>
            </a:pPr>
            <a:r>
              <a:t>from amdockvs import AMDockVSRuntime</a:t>
            </a:r>
          </a:p>
          <a:p>
            <a:pPr>
              <a:defRPr sz="1600">
                <a:solidFill>
                  <a:srgbClr val="9FE0E0"/>
                </a:solidFill>
                <a:latin typeface="Consolas"/>
              </a:defRPr>
            </a:pPr>
            <a:r>
              <a:t>rt = AMDockVSRuntime(...)</a:t>
            </a:r>
          </a:p>
          <a:p>
            <a:pPr>
              <a:defRPr sz="1600">
                <a:solidFill>
                  <a:srgbClr val="9FE0E0"/>
                </a:solidFill>
                <a:latin typeface="Consolas"/>
              </a:defRPr>
            </a:pPr>
            <a:r>
              <a:t>rt.loader ...      # importar</a:t>
            </a:r>
          </a:p>
          <a:p>
            <a:pPr>
              <a:defRPr sz="1600">
                <a:solidFill>
                  <a:srgbClr val="9FE0E0"/>
                </a:solidFill>
                <a:latin typeface="Consolas"/>
              </a:defRPr>
            </a:pPr>
            <a:r>
              <a:t>rt.pockets.predict(...)</a:t>
            </a:r>
          </a:p>
          <a:p>
            <a:pPr>
              <a:defRPr sz="1600">
                <a:solidFill>
                  <a:srgbClr val="9FE0E0"/>
                </a:solidFill>
                <a:latin typeface="Consolas"/>
              </a:defRPr>
            </a:pPr>
            <a:r>
              <a:t>rt.docking ...     # preparar y acoplar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0F8B8D"/>
                </a:solidFill>
              </a:defRPr>
            </a:pPr>
            <a:r>
              <a:t>pip install AMDockVS   ·   Python 3.12   ·   licencia 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F8B8D"/>
                </a:solidFill>
              </a:defRPr>
            </a:pPr>
            <a:r>
              <a:t>CAPACIDADES ·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B2A41"/>
                </a:solidFill>
              </a:defRPr>
            </a:pPr>
            <a:r>
              <a:t>Preparar y seleccionar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223760" cy="4846320"/>
          </a:xfrm>
          <a:prstGeom prst="rect">
            <a:avLst/>
          </a:prstGeom>
          <a:solidFill>
            <a:srgbClr val="EEF3F6"/>
          </a:solidFill>
          <a:ln w="19050">
            <a:solidFill>
              <a:srgbClr val="5F6B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5F6B7A"/>
                </a:solidFill>
              </a:defRPr>
            </a:pPr>
            <a:r>
              <a:t>[ CAPTURA ]</a:t>
            </a:r>
            <a:br/>
            <a:r>
              <a:t>Tabla de ligandos + pestaña Prepare / resultado de Diversity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657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Tablas de ligandos y receptores con descriptores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Estandarización, protonación, 3D y minimización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Clustering por diversidad (BitBIRCH) → centroides representativos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F8B8D"/>
                </a:solidFill>
              </a:defRPr>
            </a:pPr>
            <a:r>
              <a:t>CAPACIDADES ·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B2A41"/>
                </a:solidFill>
              </a:defRPr>
            </a:pPr>
            <a:r>
              <a:t>Sitio de unión y docking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223760" cy="4846320"/>
          </a:xfrm>
          <a:prstGeom prst="rect">
            <a:avLst/>
          </a:prstGeom>
          <a:solidFill>
            <a:srgbClr val="EEF3F6"/>
          </a:solidFill>
          <a:ln w="19050">
            <a:solidFill>
              <a:srgbClr val="5F6B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5F6B7A"/>
                </a:solidFill>
              </a:defRPr>
            </a:pPr>
            <a:r>
              <a:t>[ CAPTURA ]</a:t>
            </a:r>
            <a:br/>
            <a:r>
              <a:t>Cavidades P2Rank sobre el receptor + tabla de resultados por afinidad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657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Predicción de cavidades con P2Rank o caja manual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Preparación automática con Meeko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Vina / Vinardo en paralelo; resultados ordenados por afinidad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F8B8D"/>
                </a:solidFill>
              </a:defRPr>
            </a:pPr>
            <a:r>
              <a:t>CAPACIDADES ·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B2A41"/>
                </a:solidFill>
              </a:defRPr>
            </a:pPr>
            <a:r>
              <a:t>Validar: redocking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223760" cy="4846320"/>
          </a:xfrm>
          <a:prstGeom prst="rect">
            <a:avLst/>
          </a:prstGeom>
          <a:solidFill>
            <a:srgbClr val="EEF3F6"/>
          </a:solidFill>
          <a:ln w="19050">
            <a:solidFill>
              <a:srgbClr val="5F6B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5F6B7A"/>
                </a:solidFill>
              </a:defRPr>
            </a:pPr>
            <a:r>
              <a:t>[ CAPTURA ]</a:t>
            </a:r>
            <a:br/>
            <a:r>
              <a:t>Gráfica de RMSD del redocking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657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Re-acoplar el ligando cristalográfico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RMSD entre pose predicha y experimental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Confirma el protocolo antes del cribado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F8B8D"/>
                </a:solidFill>
              </a:defRPr>
            </a:pPr>
            <a:r>
              <a:t>CAPACIDADES ·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B2A41"/>
                </a:solidFill>
              </a:defRPr>
            </a:pPr>
            <a:r>
              <a:t>Explorar: off-target y análisis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223760" cy="4846320"/>
          </a:xfrm>
          <a:prstGeom prst="rect">
            <a:avLst/>
          </a:prstGeom>
          <a:solidFill>
            <a:srgbClr val="EEF3F6"/>
          </a:solidFill>
          <a:ln w="19050">
            <a:solidFill>
              <a:srgbClr val="5F6B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5F6B7A"/>
                </a:solidFill>
              </a:defRPr>
            </a:pPr>
            <a:r>
              <a:t>[ CAPTURA ]</a:t>
            </a:r>
            <a:br/>
            <a:r>
              <a:t>Vista off-target + pose en PyMOL + diagrama de interacciones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737360"/>
            <a:ext cx="3657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Un ligando frente a varios receptores (off-target)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Poses alineadas en PyMOL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B2A41"/>
                </a:solidFill>
              </a:defRPr>
            </a:pPr>
            <a:r>
              <a:t>• Diagramas 2D de interacciones · QSAR básico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F8B8D"/>
                </a:solidFill>
              </a:defRPr>
            </a:pPr>
            <a:r>
              <a:t>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B2A41"/>
                </a:solidFill>
              </a:defRPr>
            </a:pPr>
            <a:r>
              <a:t>Arquitectura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1005840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Interfaz de escritorio</a:t>
            </a:r>
          </a:p>
          <a:p>
            <a:pPr algn="ctr">
              <a:defRPr sz="1700" b="0">
                <a:solidFill>
                  <a:srgbClr val="FFFFFF"/>
                </a:solidFill>
              </a:defRPr>
            </a:pPr>
            <a:r>
              <a:t>PySide6 · PyMOL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94960" cy="1005840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API de Python</a:t>
            </a:r>
          </a:p>
          <a:p>
            <a:pPr algn="ctr">
              <a:defRPr sz="1700" b="0">
                <a:solidFill>
                  <a:srgbClr val="FFFFFF"/>
                </a:solidFill>
              </a:defRPr>
            </a:pPr>
            <a:r>
              <a:t>notebooks · scripts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11064240" cy="109728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AMDockVS — lógica científica</a:t>
            </a:r>
          </a:p>
          <a:p>
            <a:pPr algn="ctr">
              <a:defRPr sz="1900" b="0">
                <a:solidFill>
                  <a:srgbClr val="FFFFFF"/>
                </a:solidFill>
              </a:defRPr>
            </a:pPr>
            <a:r>
              <a:t>RDKit · Meeko · Vina · P2Rank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11064240" cy="1463040"/>
          </a:xfrm>
          <a:prstGeom prst="round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ms_flow — orquestador</a:t>
            </a:r>
          </a:p>
          <a:p>
            <a:pPr algn="ctr">
              <a:defRPr sz="2100" b="0">
                <a:solidFill>
                  <a:srgbClr val="FFFFFF"/>
                </a:solidFill>
              </a:defRPr>
            </a:pPr>
            <a:r>
              <a:t>proyectos · trabajos asíncronos · ejecutores · paralelismo CPU/GPU · persistencia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07A1F"/>
                </a:solidFill>
              </a:defRPr>
            </a:pPr>
            <a:r>
              <a:t>ms_flow: sin servidor ni broker, reutilizable fuera de la química —  pip install ms_flow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F8B8D"/>
                </a:solidFill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B2A41"/>
                </a:solidFill>
              </a:defRPr>
            </a:pPr>
            <a:r>
              <a:t>Conclusión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146304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Integra</a:t>
            </a:r>
          </a:p>
          <a:p>
            <a:pPr algn="ctr">
              <a:defRPr sz="2100" b="0">
                <a:solidFill>
                  <a:srgbClr val="FFFFFF"/>
                </a:solidFill>
              </a:defRPr>
            </a:pPr>
            <a:r>
              <a:t>todo el embudo en una aplicación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645920"/>
            <a:ext cx="3474720" cy="146304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Reproducible</a:t>
            </a:r>
          </a:p>
          <a:p>
            <a:pPr algn="ctr">
              <a:defRPr sz="2100" b="0">
                <a:solidFill>
                  <a:srgbClr val="FFFFFF"/>
                </a:solidFill>
              </a:defRPr>
            </a:pPr>
            <a:r>
              <a:t>proyectos, parámetros y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1645920"/>
            <a:ext cx="3474720" cy="146304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Accesible</a:t>
            </a:r>
          </a:p>
          <a:p>
            <a:pPr algn="ctr">
              <a:defRPr sz="2100" b="0">
                <a:solidFill>
                  <a:srgbClr val="FFFFFF"/>
                </a:solidFill>
              </a:defRPr>
            </a:pPr>
            <a:r>
              <a:t>GUI o Python · MIT · pip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F6B7A"/>
                </a:solidFill>
              </a:defRPr>
            </a:pPr>
            <a:r>
              <a:t>Próximos pasos:  GNINA / GPU  ·  ejecución remota (HPC)  ·  nuevos motores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B2A41"/>
                </a:solidFill>
              </a:defRPr>
            </a:pPr>
            <a:r>
              <a:t>“AMDockVS convierte un conjunto fragmentado de herramientas de docking en un flujo integrado, reproducible y accesible para el diseño de fármacos.”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5577840"/>
            <a:ext cx="1280160" cy="1097280"/>
          </a:xfrm>
          <a:prstGeom prst="rect">
            <a:avLst/>
          </a:prstGeom>
          <a:solidFill>
            <a:srgbClr val="EEF3F6"/>
          </a:solidFill>
          <a:ln w="19050">
            <a:solidFill>
              <a:srgbClr val="5F6B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5F6B7A"/>
                </a:solidFill>
              </a:defRPr>
            </a:pPr>
            <a:r>
              <a:t>[ CAPTURA ]</a:t>
            </a:r>
            <a:br/>
            <a:r>
              <a:t>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80644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5F6B7A"/>
                </a:solidFill>
              </a:defRPr>
            </a:pPr>
            <a:r>
              <a:t>github · pypi · docs  —  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